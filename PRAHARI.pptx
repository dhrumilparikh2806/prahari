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Norwester" charset="1" panose="00000506000000000000"/>
      <p:regular r:id="rId13"/>
    </p:embeddedFont>
    <p:embeddedFont>
      <p:font typeface="Canva Sans" charset="1" panose="020B0503030501040103"/>
      <p:regular r:id="rId14"/>
    </p:embeddedFont>
    <p:embeddedFont>
      <p:font typeface="Canva Sans Bold" charset="1" panose="020B08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2585" y="259924"/>
            <a:ext cx="17576463" cy="9700785"/>
            <a:chOff x="0" y="0"/>
            <a:chExt cx="4629192" cy="2554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9192" cy="2554939"/>
            </a:xfrm>
            <a:custGeom>
              <a:avLst/>
              <a:gdLst/>
              <a:ahLst/>
              <a:cxnLst/>
              <a:rect r="r" b="b" t="t" l="l"/>
              <a:pathLst>
                <a:path h="2554939" w="4629192">
                  <a:moveTo>
                    <a:pt x="17178" y="0"/>
                  </a:moveTo>
                  <a:lnTo>
                    <a:pt x="4612013" y="0"/>
                  </a:lnTo>
                  <a:cubicBezTo>
                    <a:pt x="4616569" y="0"/>
                    <a:pt x="4620939" y="1810"/>
                    <a:pt x="4624160" y="5031"/>
                  </a:cubicBezTo>
                  <a:cubicBezTo>
                    <a:pt x="4627382" y="8253"/>
                    <a:pt x="4629192" y="12622"/>
                    <a:pt x="4629192" y="17178"/>
                  </a:cubicBezTo>
                  <a:lnTo>
                    <a:pt x="4629192" y="2537761"/>
                  </a:lnTo>
                  <a:cubicBezTo>
                    <a:pt x="4629192" y="2542317"/>
                    <a:pt x="4627382" y="2546686"/>
                    <a:pt x="4624160" y="2549908"/>
                  </a:cubicBezTo>
                  <a:cubicBezTo>
                    <a:pt x="4620939" y="2553129"/>
                    <a:pt x="4616569" y="2554939"/>
                    <a:pt x="4612013" y="2554939"/>
                  </a:cubicBezTo>
                  <a:lnTo>
                    <a:pt x="17178" y="2554939"/>
                  </a:lnTo>
                  <a:cubicBezTo>
                    <a:pt x="7691" y="2554939"/>
                    <a:pt x="0" y="2547248"/>
                    <a:pt x="0" y="2537761"/>
                  </a:cubicBezTo>
                  <a:lnTo>
                    <a:pt x="0" y="17178"/>
                  </a:lnTo>
                  <a:cubicBezTo>
                    <a:pt x="0" y="12622"/>
                    <a:pt x="1810" y="8253"/>
                    <a:pt x="5031" y="5031"/>
                  </a:cubicBezTo>
                  <a:cubicBezTo>
                    <a:pt x="8253" y="1810"/>
                    <a:pt x="12622" y="0"/>
                    <a:pt x="1717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9192" cy="2593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137713"/>
            <a:ext cx="7982275" cy="248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6"/>
              </a:lnSpc>
            </a:pPr>
            <a:r>
              <a:rPr lang="en-US" sz="14440" spc="1660">
                <a:solidFill>
                  <a:srgbClr val="0B1A80"/>
                </a:solidFill>
                <a:latin typeface="Norwester"/>
                <a:ea typeface="Norwester"/>
                <a:cs typeface="Norwester"/>
                <a:sym typeface="Norwester"/>
              </a:rPr>
              <a:t>PRAHARI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405883"/>
            <a:ext cx="11189421" cy="38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1"/>
              </a:lnSpc>
            </a:pPr>
            <a:r>
              <a:rPr lang="en-US" sz="23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Zero-Network · Offline · Privacy-Preserving Biometric Authentication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700" y="4392621"/>
            <a:ext cx="16230600" cy="0"/>
          </a:xfrm>
          <a:prstGeom prst="line">
            <a:avLst/>
          </a:prstGeom>
          <a:ln cap="flat" w="38100">
            <a:solidFill>
              <a:srgbClr val="0B1A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5644226"/>
            <a:ext cx="5126858" cy="1058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7"/>
              </a:lnSpc>
            </a:pPr>
            <a:r>
              <a:rPr lang="en-US" sz="3048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Team Name: Prahari</a:t>
            </a:r>
          </a:p>
          <a:p>
            <a:pPr algn="l">
              <a:lnSpc>
                <a:spcPts val="4267"/>
              </a:lnSpc>
            </a:pPr>
            <a:r>
              <a:rPr lang="en-US" sz="3048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Team Members: Meher, DHRUMIL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2585" y="259924"/>
            <a:ext cx="17576463" cy="9700785"/>
            <a:chOff x="0" y="0"/>
            <a:chExt cx="4629192" cy="2554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9192" cy="2554939"/>
            </a:xfrm>
            <a:custGeom>
              <a:avLst/>
              <a:gdLst/>
              <a:ahLst/>
              <a:cxnLst/>
              <a:rect r="r" b="b" t="t" l="l"/>
              <a:pathLst>
                <a:path h="2554939" w="4629192">
                  <a:moveTo>
                    <a:pt x="17178" y="0"/>
                  </a:moveTo>
                  <a:lnTo>
                    <a:pt x="4612013" y="0"/>
                  </a:lnTo>
                  <a:cubicBezTo>
                    <a:pt x="4616569" y="0"/>
                    <a:pt x="4620939" y="1810"/>
                    <a:pt x="4624160" y="5031"/>
                  </a:cubicBezTo>
                  <a:cubicBezTo>
                    <a:pt x="4627382" y="8253"/>
                    <a:pt x="4629192" y="12622"/>
                    <a:pt x="4629192" y="17178"/>
                  </a:cubicBezTo>
                  <a:lnTo>
                    <a:pt x="4629192" y="2537761"/>
                  </a:lnTo>
                  <a:cubicBezTo>
                    <a:pt x="4629192" y="2542317"/>
                    <a:pt x="4627382" y="2546686"/>
                    <a:pt x="4624160" y="2549908"/>
                  </a:cubicBezTo>
                  <a:cubicBezTo>
                    <a:pt x="4620939" y="2553129"/>
                    <a:pt x="4616569" y="2554939"/>
                    <a:pt x="4612013" y="2554939"/>
                  </a:cubicBezTo>
                  <a:lnTo>
                    <a:pt x="17178" y="2554939"/>
                  </a:lnTo>
                  <a:cubicBezTo>
                    <a:pt x="7691" y="2554939"/>
                    <a:pt x="0" y="2547248"/>
                    <a:pt x="0" y="2537761"/>
                  </a:cubicBezTo>
                  <a:lnTo>
                    <a:pt x="0" y="17178"/>
                  </a:lnTo>
                  <a:cubicBezTo>
                    <a:pt x="0" y="12622"/>
                    <a:pt x="1810" y="8253"/>
                    <a:pt x="5031" y="5031"/>
                  </a:cubicBezTo>
                  <a:cubicBezTo>
                    <a:pt x="8253" y="1810"/>
                    <a:pt x="12622" y="0"/>
                    <a:pt x="1717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9192" cy="2593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61614"/>
            <a:ext cx="7687151" cy="182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B1A80"/>
                </a:solidFill>
                <a:latin typeface="Norwester"/>
                <a:ea typeface="Norwester"/>
                <a:cs typeface="Norwester"/>
                <a:sym typeface="Norwester"/>
              </a:rPr>
              <a:t>Brief &amp; Problem Statement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AutoShape 6" id="6"/>
          <p:cNvSpPr/>
          <p:nvPr/>
        </p:nvSpPr>
        <p:spPr>
          <a:xfrm flipV="true">
            <a:off x="1028700" y="1424274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28700" y="2090579"/>
          <a:ext cx="16086825" cy="7403998"/>
        </p:xfrm>
        <a:graphic>
          <a:graphicData uri="http://schemas.openxmlformats.org/drawingml/2006/table">
            <a:tbl>
              <a:tblPr/>
              <a:tblGrid>
                <a:gridCol w="8115471"/>
                <a:gridCol w="7971354"/>
              </a:tblGrid>
              <a:tr h="10466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THE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PRAHARI's ANSWER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73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 Field personnel in remote zones have zero internet access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 Standard biometric systems require cloud connectivity to authenticate</a:t>
                      </a:r>
                    </a:p>
                    <a:p>
                      <a:pPr algn="l">
                        <a:lnSpc>
                          <a:spcPts val="3079"/>
                        </a:lnSpc>
                      </a:pPr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3. Fraud via printed photos and screen replays goes undetected</a:t>
                      </a:r>
                    </a:p>
                    <a:p>
                      <a:pPr algn="l">
                        <a:lnSpc>
                          <a:spcPts val="3079"/>
                        </a:lnSpc>
                      </a:pPr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4. Existing apps are too heavy (100MB+) for mid-range Android devices</a:t>
                      </a:r>
                    </a:p>
                    <a:p>
                      <a:pPr algn="l">
                        <a:lnSpc>
                          <a:spcPts val="3079"/>
                        </a:lnSpc>
                      </a:pPr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5. Privacy laws (GDPR) prohibit raw biometric storage in plaintext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474978" indent="-237489" lvl="1">
                        <a:lnSpc>
                          <a:spcPts val="30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MobileFaceNet INT8</a:t>
                      </a:r>
                      <a:endParaRPr lang="en-US" sz="1100"/>
                    </a:p>
                    <a:p>
                      <a:pPr algn="just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    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1.9 MB model, 128-dim embeddings, runs on CPU      only</a:t>
                      </a:r>
                    </a:p>
                    <a:p>
                      <a:pPr algn="just" marL="474978" indent="-237489" lvl="1">
                        <a:lnSpc>
                          <a:spcPts val="3079"/>
                        </a:lnSpc>
                        <a:buFont typeface="Arial"/>
                        <a:buChar char="•"/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Dual liveness (rPPG + geometric)</a:t>
                      </a:r>
                    </a:p>
                    <a:p>
                      <a:pPr algn="just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     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Heartbeat signal + blink/smile/head-turn challenges</a:t>
                      </a:r>
                    </a:p>
                    <a:p>
                      <a:pPr algn="just">
                        <a:lnSpc>
                          <a:spcPts val="3079"/>
                        </a:lnSpc>
                      </a:pPr>
                    </a:p>
                    <a:p>
                      <a:pPr algn="just" marL="474978" indent="-237489" lvl="1">
                        <a:lnSpc>
                          <a:spcPts val="3079"/>
                        </a:lnSpc>
                        <a:buFont typeface="Arial"/>
                        <a:buChar char="•"/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Zero-knowledge vault</a:t>
                      </a:r>
                    </a:p>
                    <a:p>
                      <a:pPr algn="just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     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AES-256 via Android Keystore - biometrics never in             plaintext</a:t>
                      </a:r>
                    </a:p>
                    <a:p>
                      <a:pPr algn="just">
                        <a:lnSpc>
                          <a:spcPts val="3079"/>
                        </a:lnSpc>
                      </a:pPr>
                    </a:p>
                    <a:p>
                      <a:pPr algn="just" marL="474978" indent="-237489" lvl="1">
                        <a:lnSpc>
                          <a:spcPts val="3079"/>
                        </a:lnSpc>
                        <a:buFont typeface="Arial"/>
                        <a:buChar char="•"/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Offline-first SQLite queue</a:t>
                      </a:r>
                    </a:p>
                    <a:p>
                      <a:pPr algn="just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      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Works at 0 bars; syncs encrypted logs on reconnect</a:t>
                      </a:r>
                    </a:p>
                    <a:p>
                      <a:pPr algn="just">
                        <a:lnSpc>
                          <a:spcPts val="3079"/>
                        </a:lnSpc>
                      </a:pPr>
                    </a:p>
                    <a:p>
                      <a:pPr algn="just" marL="474978" indent="-237489" lvl="1">
                        <a:lnSpc>
                          <a:spcPts val="3079"/>
                        </a:lnSpc>
                        <a:buFont typeface="Arial"/>
                        <a:buChar char="•"/>
                      </a:pPr>
                      <a:r>
                        <a:rPr lang="en-US" b="true" sz="21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React Native cross-platform</a:t>
                      </a:r>
                    </a:p>
                    <a:p>
                      <a:pPr algn="just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     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Android 8+ and iOS 12+ from a single codebase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2585" y="259924"/>
            <a:ext cx="17576463" cy="9700785"/>
            <a:chOff x="0" y="0"/>
            <a:chExt cx="4629192" cy="2554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9192" cy="2554939"/>
            </a:xfrm>
            <a:custGeom>
              <a:avLst/>
              <a:gdLst/>
              <a:ahLst/>
              <a:cxnLst/>
              <a:rect r="r" b="b" t="t" l="l"/>
              <a:pathLst>
                <a:path h="2554939" w="4629192">
                  <a:moveTo>
                    <a:pt x="17178" y="0"/>
                  </a:moveTo>
                  <a:lnTo>
                    <a:pt x="4612013" y="0"/>
                  </a:lnTo>
                  <a:cubicBezTo>
                    <a:pt x="4616569" y="0"/>
                    <a:pt x="4620939" y="1810"/>
                    <a:pt x="4624160" y="5031"/>
                  </a:cubicBezTo>
                  <a:cubicBezTo>
                    <a:pt x="4627382" y="8253"/>
                    <a:pt x="4629192" y="12622"/>
                    <a:pt x="4629192" y="17178"/>
                  </a:cubicBezTo>
                  <a:lnTo>
                    <a:pt x="4629192" y="2537761"/>
                  </a:lnTo>
                  <a:cubicBezTo>
                    <a:pt x="4629192" y="2542317"/>
                    <a:pt x="4627382" y="2546686"/>
                    <a:pt x="4624160" y="2549908"/>
                  </a:cubicBezTo>
                  <a:cubicBezTo>
                    <a:pt x="4620939" y="2553129"/>
                    <a:pt x="4616569" y="2554939"/>
                    <a:pt x="4612013" y="2554939"/>
                  </a:cubicBezTo>
                  <a:lnTo>
                    <a:pt x="17178" y="2554939"/>
                  </a:lnTo>
                  <a:cubicBezTo>
                    <a:pt x="7691" y="2554939"/>
                    <a:pt x="0" y="2547248"/>
                    <a:pt x="0" y="2537761"/>
                  </a:cubicBezTo>
                  <a:lnTo>
                    <a:pt x="0" y="17178"/>
                  </a:lnTo>
                  <a:cubicBezTo>
                    <a:pt x="0" y="12622"/>
                    <a:pt x="1810" y="8253"/>
                    <a:pt x="5031" y="5031"/>
                  </a:cubicBezTo>
                  <a:cubicBezTo>
                    <a:pt x="8253" y="1810"/>
                    <a:pt x="12622" y="0"/>
                    <a:pt x="1717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9192" cy="2593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61614"/>
            <a:ext cx="7687151" cy="182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B1A80"/>
                </a:solidFill>
                <a:latin typeface="Norwester"/>
                <a:ea typeface="Norwester"/>
                <a:cs typeface="Norwester"/>
                <a:sym typeface="Norwester"/>
              </a:rPr>
              <a:t>Brief &amp; Problem Statement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AutoShape 6" id="6"/>
          <p:cNvSpPr/>
          <p:nvPr/>
        </p:nvSpPr>
        <p:spPr>
          <a:xfrm flipV="true">
            <a:off x="1028700" y="1424274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38168" y="1929573"/>
            <a:ext cx="16221132" cy="6812875"/>
          </a:xfrm>
          <a:custGeom>
            <a:avLst/>
            <a:gdLst/>
            <a:ahLst/>
            <a:cxnLst/>
            <a:rect r="r" b="b" t="t" l="l"/>
            <a:pathLst>
              <a:path h="6812875" w="16221132">
                <a:moveTo>
                  <a:pt x="0" y="0"/>
                </a:moveTo>
                <a:lnTo>
                  <a:pt x="16221132" y="0"/>
                </a:lnTo>
                <a:lnTo>
                  <a:pt x="16221132" y="6812876"/>
                </a:lnTo>
                <a:lnTo>
                  <a:pt x="0" y="6812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2585" y="259924"/>
            <a:ext cx="17576463" cy="9700785"/>
            <a:chOff x="0" y="0"/>
            <a:chExt cx="4629192" cy="2554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9192" cy="2554939"/>
            </a:xfrm>
            <a:custGeom>
              <a:avLst/>
              <a:gdLst/>
              <a:ahLst/>
              <a:cxnLst/>
              <a:rect r="r" b="b" t="t" l="l"/>
              <a:pathLst>
                <a:path h="2554939" w="4629192">
                  <a:moveTo>
                    <a:pt x="17178" y="0"/>
                  </a:moveTo>
                  <a:lnTo>
                    <a:pt x="4612013" y="0"/>
                  </a:lnTo>
                  <a:cubicBezTo>
                    <a:pt x="4616569" y="0"/>
                    <a:pt x="4620939" y="1810"/>
                    <a:pt x="4624160" y="5031"/>
                  </a:cubicBezTo>
                  <a:cubicBezTo>
                    <a:pt x="4627382" y="8253"/>
                    <a:pt x="4629192" y="12622"/>
                    <a:pt x="4629192" y="17178"/>
                  </a:cubicBezTo>
                  <a:lnTo>
                    <a:pt x="4629192" y="2537761"/>
                  </a:lnTo>
                  <a:cubicBezTo>
                    <a:pt x="4629192" y="2542317"/>
                    <a:pt x="4627382" y="2546686"/>
                    <a:pt x="4624160" y="2549908"/>
                  </a:cubicBezTo>
                  <a:cubicBezTo>
                    <a:pt x="4620939" y="2553129"/>
                    <a:pt x="4616569" y="2554939"/>
                    <a:pt x="4612013" y="2554939"/>
                  </a:cubicBezTo>
                  <a:lnTo>
                    <a:pt x="17178" y="2554939"/>
                  </a:lnTo>
                  <a:cubicBezTo>
                    <a:pt x="7691" y="2554939"/>
                    <a:pt x="0" y="2547248"/>
                    <a:pt x="0" y="2537761"/>
                  </a:cubicBezTo>
                  <a:lnTo>
                    <a:pt x="0" y="17178"/>
                  </a:lnTo>
                  <a:cubicBezTo>
                    <a:pt x="0" y="12622"/>
                    <a:pt x="1810" y="8253"/>
                    <a:pt x="5031" y="5031"/>
                  </a:cubicBezTo>
                  <a:cubicBezTo>
                    <a:pt x="8253" y="1810"/>
                    <a:pt x="12622" y="0"/>
                    <a:pt x="1717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9192" cy="2593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61614"/>
            <a:ext cx="8974812" cy="182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B1A80"/>
                </a:solidFill>
                <a:latin typeface="Norwester"/>
                <a:ea typeface="Norwester"/>
                <a:cs typeface="Norwester"/>
                <a:sym typeface="Norwester"/>
              </a:rPr>
              <a:t>5-Layer Security Feature Stack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AutoShape 6" id="6"/>
          <p:cNvSpPr/>
          <p:nvPr/>
        </p:nvSpPr>
        <p:spPr>
          <a:xfrm flipV="true">
            <a:off x="1028700" y="1424274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28700" y="1695129"/>
            <a:ext cx="15165089" cy="1366068"/>
            <a:chOff x="0" y="0"/>
            <a:chExt cx="3994098" cy="3597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94098" cy="359788"/>
            </a:xfrm>
            <a:custGeom>
              <a:avLst/>
              <a:gdLst/>
              <a:ahLst/>
              <a:cxnLst/>
              <a:rect r="r" b="b" t="t" l="l"/>
              <a:pathLst>
                <a:path h="359788" w="3994098">
                  <a:moveTo>
                    <a:pt x="3790898" y="0"/>
                  </a:moveTo>
                  <a:lnTo>
                    <a:pt x="0" y="0"/>
                  </a:lnTo>
                  <a:lnTo>
                    <a:pt x="0" y="359788"/>
                  </a:lnTo>
                  <a:lnTo>
                    <a:pt x="3790898" y="359788"/>
                  </a:lnTo>
                  <a:lnTo>
                    <a:pt x="3994098" y="179894"/>
                  </a:lnTo>
                  <a:lnTo>
                    <a:pt x="3790898" y="0"/>
                  </a:lnTo>
                  <a:close/>
                </a:path>
              </a:pathLst>
            </a:custGeom>
            <a:solidFill>
              <a:srgbClr val="AAAAA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79798" cy="397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289798"/>
            <a:ext cx="15165089" cy="1366068"/>
            <a:chOff x="0" y="0"/>
            <a:chExt cx="3994098" cy="3597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94098" cy="359788"/>
            </a:xfrm>
            <a:custGeom>
              <a:avLst/>
              <a:gdLst/>
              <a:ahLst/>
              <a:cxnLst/>
              <a:rect r="r" b="b" t="t" l="l"/>
              <a:pathLst>
                <a:path h="359788" w="3994098">
                  <a:moveTo>
                    <a:pt x="3790898" y="0"/>
                  </a:moveTo>
                  <a:lnTo>
                    <a:pt x="0" y="0"/>
                  </a:lnTo>
                  <a:lnTo>
                    <a:pt x="0" y="359788"/>
                  </a:lnTo>
                  <a:lnTo>
                    <a:pt x="3790898" y="359788"/>
                  </a:lnTo>
                  <a:lnTo>
                    <a:pt x="3994098" y="179894"/>
                  </a:lnTo>
                  <a:lnTo>
                    <a:pt x="3790898" y="0"/>
                  </a:lnTo>
                  <a:close/>
                </a:path>
              </a:pathLst>
            </a:custGeom>
            <a:solidFill>
              <a:srgbClr val="AAAAA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79798" cy="397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4884466"/>
            <a:ext cx="15165089" cy="1366068"/>
            <a:chOff x="0" y="0"/>
            <a:chExt cx="3994098" cy="3597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94098" cy="359788"/>
            </a:xfrm>
            <a:custGeom>
              <a:avLst/>
              <a:gdLst/>
              <a:ahLst/>
              <a:cxnLst/>
              <a:rect r="r" b="b" t="t" l="l"/>
              <a:pathLst>
                <a:path h="359788" w="3994098">
                  <a:moveTo>
                    <a:pt x="3790898" y="0"/>
                  </a:moveTo>
                  <a:lnTo>
                    <a:pt x="0" y="0"/>
                  </a:lnTo>
                  <a:lnTo>
                    <a:pt x="0" y="359788"/>
                  </a:lnTo>
                  <a:lnTo>
                    <a:pt x="3790898" y="359788"/>
                  </a:lnTo>
                  <a:lnTo>
                    <a:pt x="3994098" y="179894"/>
                  </a:lnTo>
                  <a:lnTo>
                    <a:pt x="3790898" y="0"/>
                  </a:lnTo>
                  <a:close/>
                </a:path>
              </a:pathLst>
            </a:custGeom>
            <a:solidFill>
              <a:srgbClr val="AAAAA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879798" cy="397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6479135"/>
            <a:ext cx="15165089" cy="1366068"/>
            <a:chOff x="0" y="0"/>
            <a:chExt cx="3994098" cy="3597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94098" cy="359788"/>
            </a:xfrm>
            <a:custGeom>
              <a:avLst/>
              <a:gdLst/>
              <a:ahLst/>
              <a:cxnLst/>
              <a:rect r="r" b="b" t="t" l="l"/>
              <a:pathLst>
                <a:path h="359788" w="3994098">
                  <a:moveTo>
                    <a:pt x="3790898" y="0"/>
                  </a:moveTo>
                  <a:lnTo>
                    <a:pt x="0" y="0"/>
                  </a:lnTo>
                  <a:lnTo>
                    <a:pt x="0" y="359788"/>
                  </a:lnTo>
                  <a:lnTo>
                    <a:pt x="3790898" y="359788"/>
                  </a:lnTo>
                  <a:lnTo>
                    <a:pt x="3994098" y="179894"/>
                  </a:lnTo>
                  <a:lnTo>
                    <a:pt x="3790898" y="0"/>
                  </a:lnTo>
                  <a:close/>
                </a:path>
              </a:pathLst>
            </a:custGeom>
            <a:solidFill>
              <a:srgbClr val="AAAAA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879798" cy="397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8073803"/>
            <a:ext cx="15165089" cy="1366068"/>
            <a:chOff x="0" y="0"/>
            <a:chExt cx="3994098" cy="3597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94098" cy="359788"/>
            </a:xfrm>
            <a:custGeom>
              <a:avLst/>
              <a:gdLst/>
              <a:ahLst/>
              <a:cxnLst/>
              <a:rect r="r" b="b" t="t" l="l"/>
              <a:pathLst>
                <a:path h="359788" w="3994098">
                  <a:moveTo>
                    <a:pt x="3790898" y="0"/>
                  </a:moveTo>
                  <a:lnTo>
                    <a:pt x="0" y="0"/>
                  </a:lnTo>
                  <a:lnTo>
                    <a:pt x="0" y="359788"/>
                  </a:lnTo>
                  <a:lnTo>
                    <a:pt x="3790898" y="359788"/>
                  </a:lnTo>
                  <a:lnTo>
                    <a:pt x="3994098" y="179894"/>
                  </a:lnTo>
                  <a:lnTo>
                    <a:pt x="3790898" y="0"/>
                  </a:lnTo>
                  <a:close/>
                </a:path>
              </a:pathLst>
            </a:custGeom>
            <a:solidFill>
              <a:srgbClr val="AAAAA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879798" cy="397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 flipH="true" flipV="true">
            <a:off x="1755021" y="1695129"/>
            <a:ext cx="0" cy="136606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H="true" flipV="true">
            <a:off x="1678821" y="3337093"/>
            <a:ext cx="0" cy="12714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H="true" flipV="true">
            <a:off x="1716921" y="4931432"/>
            <a:ext cx="0" cy="12714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H="true" flipV="true">
            <a:off x="1735971" y="6526430"/>
            <a:ext cx="0" cy="12714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 flipV="true">
            <a:off x="1697871" y="8121428"/>
            <a:ext cx="0" cy="12714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276990" y="1877466"/>
            <a:ext cx="217289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6990" y="3472135"/>
            <a:ext cx="330279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6990" y="5066803"/>
            <a:ext cx="330875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9122" y="6669635"/>
            <a:ext cx="393025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0495" y="8264303"/>
            <a:ext cx="330279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65831" y="2095736"/>
            <a:ext cx="4130696" cy="50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9"/>
              </a:lnSpc>
            </a:pPr>
            <a:r>
              <a:rPr lang="en-US" sz="3028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rPPG Heartbeat Liveness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72777" y="1953666"/>
            <a:ext cx="7228165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Camera detects periodic skin-colour A caused by blood flow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Photos/screens -&gt; flat signal -&gt; ZERO BPM -&gt; instantly rejected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Goertzel DET: valid range 60-120 BPM at 30 fps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65831" y="3689848"/>
            <a:ext cx="5502303" cy="51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9"/>
              </a:lnSpc>
            </a:pPr>
            <a:r>
              <a:rPr lang="en-US" sz="3028" spc="-160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Geometric Liveness (MediaPipe)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65831" y="5049981"/>
            <a:ext cx="3113052" cy="103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9"/>
              </a:lnSpc>
            </a:pPr>
            <a:r>
              <a:rPr lang="en-US" sz="3028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MobileFaceNet Edge Recognition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65831" y="6624168"/>
            <a:ext cx="4130696" cy="103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9"/>
              </a:lnSpc>
            </a:pPr>
            <a:r>
              <a:rPr lang="en-US" sz="3028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Federated Intelligence Sync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65831" y="8178578"/>
            <a:ext cx="4130696" cy="103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9"/>
              </a:lnSpc>
            </a:pPr>
            <a:r>
              <a:rPr lang="en-US" sz="3028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Zero-Knowledge Biometric Vault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572777" y="3556498"/>
            <a:ext cx="8335923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468-point Face Mesh: EAR blink . mouth-curve smile . nose-tip head-turn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Threshold: EAR &lt; 0.2 = eyes closed; ≥2 blinks required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Runs in &lt; 100 ms per frame - fully offline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572777" y="5159330"/>
            <a:ext cx="7675483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INT8 quantised TFLite model: 1.9 MB, 128-dim embeddings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Cosine similarity threshold 0.65 -&gt; &gt;99% accuracy LFW benchmark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 300 ms inference on Snapdragon 600-class CPU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572777" y="6693130"/>
            <a:ext cx="8122206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On-device gradient delta learning - model improves with each session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Sync: only encrypted model deltas upload to AWS S3 (never face data)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SQLite purge on S3 ACK confirmation - zero data residue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629213" y="8247540"/>
            <a:ext cx="8279487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Device-unique AES-256 key in Android Keystore / iOS Secure Enclave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Embeddings encrypted before any SQLite write - plaintext never on disk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Verification happens in-memory only - GDPR compliant by design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2585" y="259924"/>
            <a:ext cx="17576463" cy="9700785"/>
            <a:chOff x="0" y="0"/>
            <a:chExt cx="4629192" cy="2554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9192" cy="2554939"/>
            </a:xfrm>
            <a:custGeom>
              <a:avLst/>
              <a:gdLst/>
              <a:ahLst/>
              <a:cxnLst/>
              <a:rect r="r" b="b" t="t" l="l"/>
              <a:pathLst>
                <a:path h="2554939" w="4629192">
                  <a:moveTo>
                    <a:pt x="17178" y="0"/>
                  </a:moveTo>
                  <a:lnTo>
                    <a:pt x="4612013" y="0"/>
                  </a:lnTo>
                  <a:cubicBezTo>
                    <a:pt x="4616569" y="0"/>
                    <a:pt x="4620939" y="1810"/>
                    <a:pt x="4624160" y="5031"/>
                  </a:cubicBezTo>
                  <a:cubicBezTo>
                    <a:pt x="4627382" y="8253"/>
                    <a:pt x="4629192" y="12622"/>
                    <a:pt x="4629192" y="17178"/>
                  </a:cubicBezTo>
                  <a:lnTo>
                    <a:pt x="4629192" y="2537761"/>
                  </a:lnTo>
                  <a:cubicBezTo>
                    <a:pt x="4629192" y="2542317"/>
                    <a:pt x="4627382" y="2546686"/>
                    <a:pt x="4624160" y="2549908"/>
                  </a:cubicBezTo>
                  <a:cubicBezTo>
                    <a:pt x="4620939" y="2553129"/>
                    <a:pt x="4616569" y="2554939"/>
                    <a:pt x="4612013" y="2554939"/>
                  </a:cubicBezTo>
                  <a:lnTo>
                    <a:pt x="17178" y="2554939"/>
                  </a:lnTo>
                  <a:cubicBezTo>
                    <a:pt x="7691" y="2554939"/>
                    <a:pt x="0" y="2547248"/>
                    <a:pt x="0" y="2537761"/>
                  </a:cubicBezTo>
                  <a:lnTo>
                    <a:pt x="0" y="17178"/>
                  </a:lnTo>
                  <a:cubicBezTo>
                    <a:pt x="0" y="12622"/>
                    <a:pt x="1810" y="8253"/>
                    <a:pt x="5031" y="5031"/>
                  </a:cubicBezTo>
                  <a:cubicBezTo>
                    <a:pt x="8253" y="1810"/>
                    <a:pt x="12622" y="0"/>
                    <a:pt x="1717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9192" cy="2593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61614"/>
            <a:ext cx="5003482" cy="182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B1A80"/>
                </a:solidFill>
                <a:latin typeface="Norwester"/>
                <a:ea typeface="Norwester"/>
                <a:cs typeface="Norwester"/>
                <a:sym typeface="Norwester"/>
              </a:rPr>
              <a:t>Technology Stack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AutoShape 6" id="6"/>
          <p:cNvSpPr/>
          <p:nvPr/>
        </p:nvSpPr>
        <p:spPr>
          <a:xfrm flipV="true">
            <a:off x="1028700" y="1424274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9769696" y="2140888"/>
            <a:ext cx="1579150" cy="1527812"/>
          </a:xfrm>
          <a:custGeom>
            <a:avLst/>
            <a:gdLst/>
            <a:ahLst/>
            <a:cxnLst/>
            <a:rect r="r" b="b" t="t" l="l"/>
            <a:pathLst>
              <a:path h="1527812" w="1579150">
                <a:moveTo>
                  <a:pt x="0" y="0"/>
                </a:moveTo>
                <a:lnTo>
                  <a:pt x="1579150" y="0"/>
                </a:lnTo>
                <a:lnTo>
                  <a:pt x="1579150" y="1527812"/>
                </a:lnTo>
                <a:lnTo>
                  <a:pt x="0" y="1527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445" t="0" r="-4705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68183" y="2140888"/>
            <a:ext cx="4609054" cy="714403"/>
          </a:xfrm>
          <a:custGeom>
            <a:avLst/>
            <a:gdLst/>
            <a:ahLst/>
            <a:cxnLst/>
            <a:rect r="r" b="b" t="t" l="l"/>
            <a:pathLst>
              <a:path h="714403" w="4609054">
                <a:moveTo>
                  <a:pt x="0" y="0"/>
                </a:moveTo>
                <a:lnTo>
                  <a:pt x="4609054" y="0"/>
                </a:lnTo>
                <a:lnTo>
                  <a:pt x="4609054" y="714403"/>
                </a:lnTo>
                <a:lnTo>
                  <a:pt x="0" y="714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00736" y="4152419"/>
            <a:ext cx="1517071" cy="1527998"/>
          </a:xfrm>
          <a:custGeom>
            <a:avLst/>
            <a:gdLst/>
            <a:ahLst/>
            <a:cxnLst/>
            <a:rect r="r" b="b" t="t" l="l"/>
            <a:pathLst>
              <a:path h="1527998" w="1517071">
                <a:moveTo>
                  <a:pt x="0" y="0"/>
                </a:moveTo>
                <a:lnTo>
                  <a:pt x="1517071" y="0"/>
                </a:lnTo>
                <a:lnTo>
                  <a:pt x="1517071" y="1527998"/>
                </a:lnTo>
                <a:lnTo>
                  <a:pt x="0" y="15279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2615" t="-54626" r="-121946" b="-66682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968183" y="3339322"/>
            <a:ext cx="1858874" cy="1384852"/>
          </a:xfrm>
          <a:custGeom>
            <a:avLst/>
            <a:gdLst/>
            <a:ahLst/>
            <a:cxnLst/>
            <a:rect r="r" b="b" t="t" l="l"/>
            <a:pathLst>
              <a:path h="1384852" w="1858874">
                <a:moveTo>
                  <a:pt x="0" y="0"/>
                </a:moveTo>
                <a:lnTo>
                  <a:pt x="1858874" y="0"/>
                </a:lnTo>
                <a:lnTo>
                  <a:pt x="1858874" y="1384852"/>
                </a:lnTo>
                <a:lnTo>
                  <a:pt x="0" y="1384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717" t="-38567" r="-216280" b="-9609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272710" y="3464617"/>
            <a:ext cx="1906840" cy="1134263"/>
          </a:xfrm>
          <a:custGeom>
            <a:avLst/>
            <a:gdLst/>
            <a:ahLst/>
            <a:cxnLst/>
            <a:rect r="r" b="b" t="t" l="l"/>
            <a:pathLst>
              <a:path h="1134263" w="1906840">
                <a:moveTo>
                  <a:pt x="0" y="0"/>
                </a:moveTo>
                <a:lnTo>
                  <a:pt x="1906840" y="0"/>
                </a:lnTo>
                <a:lnTo>
                  <a:pt x="1906840" y="1134263"/>
                </a:lnTo>
                <a:lnTo>
                  <a:pt x="0" y="11342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79652" t="-423084" r="-13017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97620" y="6956256"/>
            <a:ext cx="2564155" cy="1471423"/>
          </a:xfrm>
          <a:custGeom>
            <a:avLst/>
            <a:gdLst/>
            <a:ahLst/>
            <a:cxnLst/>
            <a:rect r="r" b="b" t="t" l="l"/>
            <a:pathLst>
              <a:path h="1471423" w="2564155">
                <a:moveTo>
                  <a:pt x="0" y="0"/>
                </a:moveTo>
                <a:lnTo>
                  <a:pt x="2564155" y="0"/>
                </a:lnTo>
                <a:lnTo>
                  <a:pt x="2564155" y="1471422"/>
                </a:lnTo>
                <a:lnTo>
                  <a:pt x="0" y="14714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1265" t="-27691" r="-50448" b="-7003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968183" y="5048687"/>
            <a:ext cx="4780697" cy="1793947"/>
          </a:xfrm>
          <a:custGeom>
            <a:avLst/>
            <a:gdLst/>
            <a:ahLst/>
            <a:cxnLst/>
            <a:rect r="r" b="b" t="t" l="l"/>
            <a:pathLst>
              <a:path h="1793947" w="4780697">
                <a:moveTo>
                  <a:pt x="0" y="0"/>
                </a:moveTo>
                <a:lnTo>
                  <a:pt x="4780697" y="0"/>
                </a:lnTo>
                <a:lnTo>
                  <a:pt x="4780697" y="1793947"/>
                </a:lnTo>
                <a:lnTo>
                  <a:pt x="0" y="17939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406" t="-22465" r="-4512" b="-44931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69696" y="6166192"/>
            <a:ext cx="2030903" cy="2030903"/>
          </a:xfrm>
          <a:custGeom>
            <a:avLst/>
            <a:gdLst/>
            <a:ahLst/>
            <a:cxnLst/>
            <a:rect r="r" b="b" t="t" l="l"/>
            <a:pathLst>
              <a:path h="2030903" w="2030903">
                <a:moveTo>
                  <a:pt x="0" y="0"/>
                </a:moveTo>
                <a:lnTo>
                  <a:pt x="2030903" y="0"/>
                </a:lnTo>
                <a:lnTo>
                  <a:pt x="2030903" y="2030903"/>
                </a:lnTo>
                <a:lnTo>
                  <a:pt x="0" y="2030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2057400"/>
            <a:ext cx="8293321" cy="7342738"/>
            <a:chOff x="0" y="0"/>
            <a:chExt cx="2184249" cy="19338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84249" cy="1933890"/>
            </a:xfrm>
            <a:custGeom>
              <a:avLst/>
              <a:gdLst/>
              <a:ahLst/>
              <a:cxnLst/>
              <a:rect r="r" b="b" t="t" l="l"/>
              <a:pathLst>
                <a:path h="1933890" w="2184249">
                  <a:moveTo>
                    <a:pt x="15870" y="0"/>
                  </a:moveTo>
                  <a:lnTo>
                    <a:pt x="2168379" y="0"/>
                  </a:lnTo>
                  <a:cubicBezTo>
                    <a:pt x="2177144" y="0"/>
                    <a:pt x="2184249" y="7105"/>
                    <a:pt x="2184249" y="15870"/>
                  </a:cubicBezTo>
                  <a:lnTo>
                    <a:pt x="2184249" y="1918020"/>
                  </a:lnTo>
                  <a:cubicBezTo>
                    <a:pt x="2184249" y="1922229"/>
                    <a:pt x="2182577" y="1926266"/>
                    <a:pt x="2179601" y="1929242"/>
                  </a:cubicBezTo>
                  <a:cubicBezTo>
                    <a:pt x="2176625" y="1932218"/>
                    <a:pt x="2172589" y="1933890"/>
                    <a:pt x="2168379" y="1933890"/>
                  </a:cubicBezTo>
                  <a:lnTo>
                    <a:pt x="15870" y="1933890"/>
                  </a:lnTo>
                  <a:cubicBezTo>
                    <a:pt x="11661" y="1933890"/>
                    <a:pt x="7624" y="1932218"/>
                    <a:pt x="4648" y="1929242"/>
                  </a:cubicBezTo>
                  <a:cubicBezTo>
                    <a:pt x="1672" y="1926266"/>
                    <a:pt x="0" y="1922229"/>
                    <a:pt x="0" y="1918020"/>
                  </a:cubicBezTo>
                  <a:lnTo>
                    <a:pt x="0" y="15870"/>
                  </a:lnTo>
                  <a:cubicBezTo>
                    <a:pt x="0" y="11661"/>
                    <a:pt x="1672" y="7624"/>
                    <a:pt x="4648" y="4648"/>
                  </a:cubicBezTo>
                  <a:cubicBezTo>
                    <a:pt x="7624" y="1672"/>
                    <a:pt x="11661" y="0"/>
                    <a:pt x="1587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84249" cy="1971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13607" y="3082664"/>
            <a:ext cx="7323506" cy="763906"/>
            <a:chOff x="0" y="0"/>
            <a:chExt cx="1928825" cy="2011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28825" cy="201193"/>
            </a:xfrm>
            <a:custGeom>
              <a:avLst/>
              <a:gdLst/>
              <a:ahLst/>
              <a:cxnLst/>
              <a:rect r="r" b="b" t="t" l="l"/>
              <a:pathLst>
                <a:path h="201193" w="1928825">
                  <a:moveTo>
                    <a:pt x="0" y="0"/>
                  </a:moveTo>
                  <a:lnTo>
                    <a:pt x="1725625" y="0"/>
                  </a:lnTo>
                  <a:lnTo>
                    <a:pt x="1928825" y="100597"/>
                  </a:lnTo>
                  <a:lnTo>
                    <a:pt x="1725625" y="201193"/>
                  </a:lnTo>
                  <a:lnTo>
                    <a:pt x="0" y="201193"/>
                  </a:lnTo>
                  <a:lnTo>
                    <a:pt x="203200" y="100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77800" y="-38100"/>
              <a:ext cx="1674825" cy="239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Enroll / Verify UI (Expo Router)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13607" y="4031748"/>
            <a:ext cx="7323506" cy="763906"/>
            <a:chOff x="0" y="0"/>
            <a:chExt cx="1928825" cy="20119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28825" cy="201193"/>
            </a:xfrm>
            <a:custGeom>
              <a:avLst/>
              <a:gdLst/>
              <a:ahLst/>
              <a:cxnLst/>
              <a:rect r="r" b="b" t="t" l="l"/>
              <a:pathLst>
                <a:path h="201193" w="1928825">
                  <a:moveTo>
                    <a:pt x="0" y="0"/>
                  </a:moveTo>
                  <a:lnTo>
                    <a:pt x="1725625" y="0"/>
                  </a:lnTo>
                  <a:lnTo>
                    <a:pt x="1928825" y="100597"/>
                  </a:lnTo>
                  <a:lnTo>
                    <a:pt x="1725625" y="201193"/>
                  </a:lnTo>
                  <a:lnTo>
                    <a:pt x="0" y="201193"/>
                  </a:lnTo>
                  <a:lnTo>
                    <a:pt x="203200" y="100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77800" y="-38100"/>
              <a:ext cx="1674825" cy="239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Liveness Orchestrator (JS)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13607" y="4980833"/>
            <a:ext cx="7323506" cy="763906"/>
            <a:chOff x="0" y="0"/>
            <a:chExt cx="1928825" cy="2011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28825" cy="201193"/>
            </a:xfrm>
            <a:custGeom>
              <a:avLst/>
              <a:gdLst/>
              <a:ahLst/>
              <a:cxnLst/>
              <a:rect r="r" b="b" t="t" l="l"/>
              <a:pathLst>
                <a:path h="201193" w="1928825">
                  <a:moveTo>
                    <a:pt x="0" y="0"/>
                  </a:moveTo>
                  <a:lnTo>
                    <a:pt x="1725625" y="0"/>
                  </a:lnTo>
                  <a:lnTo>
                    <a:pt x="1928825" y="100597"/>
                  </a:lnTo>
                  <a:lnTo>
                    <a:pt x="1725625" y="201193"/>
                  </a:lnTo>
                  <a:lnTo>
                    <a:pt x="0" y="201193"/>
                  </a:lnTo>
                  <a:lnTo>
                    <a:pt x="203200" y="100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77800" y="-38100"/>
              <a:ext cx="1674825" cy="239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rPPG Hook + Geometric Hook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13607" y="5929918"/>
            <a:ext cx="7323506" cy="763906"/>
            <a:chOff x="0" y="0"/>
            <a:chExt cx="1928825" cy="20119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28825" cy="201193"/>
            </a:xfrm>
            <a:custGeom>
              <a:avLst/>
              <a:gdLst/>
              <a:ahLst/>
              <a:cxnLst/>
              <a:rect r="r" b="b" t="t" l="l"/>
              <a:pathLst>
                <a:path h="201193" w="1928825">
                  <a:moveTo>
                    <a:pt x="0" y="0"/>
                  </a:moveTo>
                  <a:lnTo>
                    <a:pt x="1725625" y="0"/>
                  </a:lnTo>
                  <a:lnTo>
                    <a:pt x="1928825" y="100597"/>
                  </a:lnTo>
                  <a:lnTo>
                    <a:pt x="1725625" y="201193"/>
                  </a:lnTo>
                  <a:lnTo>
                    <a:pt x="0" y="201193"/>
                  </a:lnTo>
                  <a:lnTo>
                    <a:pt x="203200" y="100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77800" y="-38100"/>
              <a:ext cx="1674825" cy="239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useFaceEngine → TFLite Bridge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13607" y="6879003"/>
            <a:ext cx="7323506" cy="763906"/>
            <a:chOff x="0" y="0"/>
            <a:chExt cx="1928825" cy="2011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28825" cy="201193"/>
            </a:xfrm>
            <a:custGeom>
              <a:avLst/>
              <a:gdLst/>
              <a:ahLst/>
              <a:cxnLst/>
              <a:rect r="r" b="b" t="t" l="l"/>
              <a:pathLst>
                <a:path h="201193" w="1928825">
                  <a:moveTo>
                    <a:pt x="0" y="0"/>
                  </a:moveTo>
                  <a:lnTo>
                    <a:pt x="1725625" y="0"/>
                  </a:lnTo>
                  <a:lnTo>
                    <a:pt x="1928825" y="100597"/>
                  </a:lnTo>
                  <a:lnTo>
                    <a:pt x="1725625" y="201193"/>
                  </a:lnTo>
                  <a:lnTo>
                    <a:pt x="0" y="201193"/>
                  </a:lnTo>
                  <a:lnTo>
                    <a:pt x="203200" y="100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38100"/>
              <a:ext cx="1674825" cy="239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MobileFaceNet INT8 · 1.9 MB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13607" y="7828087"/>
            <a:ext cx="7323506" cy="763906"/>
            <a:chOff x="0" y="0"/>
            <a:chExt cx="1928825" cy="20119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28825" cy="201193"/>
            </a:xfrm>
            <a:custGeom>
              <a:avLst/>
              <a:gdLst/>
              <a:ahLst/>
              <a:cxnLst/>
              <a:rect r="r" b="b" t="t" l="l"/>
              <a:pathLst>
                <a:path h="201193" w="1928825">
                  <a:moveTo>
                    <a:pt x="0" y="0"/>
                  </a:moveTo>
                  <a:lnTo>
                    <a:pt x="1725625" y="0"/>
                  </a:lnTo>
                  <a:lnTo>
                    <a:pt x="1928825" y="100597"/>
                  </a:lnTo>
                  <a:lnTo>
                    <a:pt x="1725625" y="201193"/>
                  </a:lnTo>
                  <a:lnTo>
                    <a:pt x="0" y="201193"/>
                  </a:lnTo>
                  <a:lnTo>
                    <a:pt x="203200" y="100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77800" y="-38100"/>
              <a:ext cx="1674825" cy="239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AES-256 Vault → SQLite → S3 Sync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3747193" y="2440001"/>
            <a:ext cx="285633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D9D9D9"/>
                </a:solidFill>
                <a:latin typeface="Norwester"/>
                <a:ea typeface="Norwester"/>
                <a:cs typeface="Norwester"/>
                <a:sym typeface="Norwester"/>
              </a:rPr>
              <a:t>RUNTIME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2585" y="259924"/>
            <a:ext cx="17576463" cy="9700785"/>
            <a:chOff x="0" y="0"/>
            <a:chExt cx="4629192" cy="2554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9192" cy="2554939"/>
            </a:xfrm>
            <a:custGeom>
              <a:avLst/>
              <a:gdLst/>
              <a:ahLst/>
              <a:cxnLst/>
              <a:rect r="r" b="b" t="t" l="l"/>
              <a:pathLst>
                <a:path h="2554939" w="4629192">
                  <a:moveTo>
                    <a:pt x="17178" y="0"/>
                  </a:moveTo>
                  <a:lnTo>
                    <a:pt x="4612013" y="0"/>
                  </a:lnTo>
                  <a:cubicBezTo>
                    <a:pt x="4616569" y="0"/>
                    <a:pt x="4620939" y="1810"/>
                    <a:pt x="4624160" y="5031"/>
                  </a:cubicBezTo>
                  <a:cubicBezTo>
                    <a:pt x="4627382" y="8253"/>
                    <a:pt x="4629192" y="12622"/>
                    <a:pt x="4629192" y="17178"/>
                  </a:cubicBezTo>
                  <a:lnTo>
                    <a:pt x="4629192" y="2537761"/>
                  </a:lnTo>
                  <a:cubicBezTo>
                    <a:pt x="4629192" y="2542317"/>
                    <a:pt x="4627382" y="2546686"/>
                    <a:pt x="4624160" y="2549908"/>
                  </a:cubicBezTo>
                  <a:cubicBezTo>
                    <a:pt x="4620939" y="2553129"/>
                    <a:pt x="4616569" y="2554939"/>
                    <a:pt x="4612013" y="2554939"/>
                  </a:cubicBezTo>
                  <a:lnTo>
                    <a:pt x="17178" y="2554939"/>
                  </a:lnTo>
                  <a:cubicBezTo>
                    <a:pt x="7691" y="2554939"/>
                    <a:pt x="0" y="2547248"/>
                    <a:pt x="0" y="2537761"/>
                  </a:cubicBezTo>
                  <a:lnTo>
                    <a:pt x="0" y="17178"/>
                  </a:lnTo>
                  <a:cubicBezTo>
                    <a:pt x="0" y="12622"/>
                    <a:pt x="1810" y="8253"/>
                    <a:pt x="5031" y="5031"/>
                  </a:cubicBezTo>
                  <a:cubicBezTo>
                    <a:pt x="8253" y="1810"/>
                    <a:pt x="12622" y="0"/>
                    <a:pt x="1717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9192" cy="2593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546704"/>
            <a:ext cx="4485204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B1A80"/>
                </a:solidFill>
                <a:latin typeface="Norwester"/>
                <a:ea typeface="Norwester"/>
                <a:cs typeface="Norwester"/>
                <a:sym typeface="Norwester"/>
              </a:rPr>
              <a:t>System Pipeline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1028700" y="1424274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015436" y="1635858"/>
            <a:ext cx="13893291" cy="7814976"/>
          </a:xfrm>
          <a:custGeom>
            <a:avLst/>
            <a:gdLst/>
            <a:ahLst/>
            <a:cxnLst/>
            <a:rect r="r" b="b" t="t" l="l"/>
            <a:pathLst>
              <a:path h="7814976" w="13893291">
                <a:moveTo>
                  <a:pt x="0" y="0"/>
                </a:moveTo>
                <a:lnTo>
                  <a:pt x="13893290" y="0"/>
                </a:lnTo>
                <a:lnTo>
                  <a:pt x="13893290" y="7814976"/>
                </a:lnTo>
                <a:lnTo>
                  <a:pt x="0" y="7814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2585" y="259924"/>
            <a:ext cx="17576463" cy="9700785"/>
            <a:chOff x="0" y="0"/>
            <a:chExt cx="4629192" cy="2554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9192" cy="2554939"/>
            </a:xfrm>
            <a:custGeom>
              <a:avLst/>
              <a:gdLst/>
              <a:ahLst/>
              <a:cxnLst/>
              <a:rect r="r" b="b" t="t" l="l"/>
              <a:pathLst>
                <a:path h="2554939" w="4629192">
                  <a:moveTo>
                    <a:pt x="17178" y="0"/>
                  </a:moveTo>
                  <a:lnTo>
                    <a:pt x="4612013" y="0"/>
                  </a:lnTo>
                  <a:cubicBezTo>
                    <a:pt x="4616569" y="0"/>
                    <a:pt x="4620939" y="1810"/>
                    <a:pt x="4624160" y="5031"/>
                  </a:cubicBezTo>
                  <a:cubicBezTo>
                    <a:pt x="4627382" y="8253"/>
                    <a:pt x="4629192" y="12622"/>
                    <a:pt x="4629192" y="17178"/>
                  </a:cubicBezTo>
                  <a:lnTo>
                    <a:pt x="4629192" y="2537761"/>
                  </a:lnTo>
                  <a:cubicBezTo>
                    <a:pt x="4629192" y="2542317"/>
                    <a:pt x="4627382" y="2546686"/>
                    <a:pt x="4624160" y="2549908"/>
                  </a:cubicBezTo>
                  <a:cubicBezTo>
                    <a:pt x="4620939" y="2553129"/>
                    <a:pt x="4616569" y="2554939"/>
                    <a:pt x="4612013" y="2554939"/>
                  </a:cubicBezTo>
                  <a:lnTo>
                    <a:pt x="17178" y="2554939"/>
                  </a:lnTo>
                  <a:cubicBezTo>
                    <a:pt x="7691" y="2554939"/>
                    <a:pt x="0" y="2547248"/>
                    <a:pt x="0" y="2537761"/>
                  </a:cubicBezTo>
                  <a:lnTo>
                    <a:pt x="0" y="17178"/>
                  </a:lnTo>
                  <a:cubicBezTo>
                    <a:pt x="0" y="12622"/>
                    <a:pt x="1810" y="8253"/>
                    <a:pt x="5031" y="5031"/>
                  </a:cubicBezTo>
                  <a:cubicBezTo>
                    <a:pt x="8253" y="1810"/>
                    <a:pt x="12622" y="0"/>
                    <a:pt x="17178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9192" cy="2593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61614"/>
            <a:ext cx="7687151" cy="182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B1A80"/>
                </a:solidFill>
                <a:latin typeface="Norwester"/>
                <a:ea typeface="Norwester"/>
                <a:cs typeface="Norwester"/>
                <a:sym typeface="Norwester"/>
              </a:rPr>
              <a:t>Brief &amp; Problem Statement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AutoShape 6" id="6"/>
          <p:cNvSpPr/>
          <p:nvPr/>
        </p:nvSpPr>
        <p:spPr>
          <a:xfrm flipV="true">
            <a:off x="1028700" y="1424274"/>
            <a:ext cx="1623060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DAHLs0zRtPo</dc:identifier>
  <dcterms:modified xsi:type="dcterms:W3CDTF">2011-08-01T06:04:30Z</dcterms:modified>
  <cp:revision>1</cp:revision>
  <dc:title>PRAHARI</dc:title>
</cp:coreProperties>
</file>